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634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02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22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68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92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76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77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48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00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74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915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40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689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712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874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845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56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AF836B6-7769-40DE-A1E4-0F79A9704BC6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97693E1-C25C-44C1-B4AF-6FC94987183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48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ED59D-1D2F-0B2A-AB0A-82A195D017AE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IN" sz="3200" dirty="0">
                <a:latin typeface="Arial Black" panose="020B0A04020102020204" pitchFamily="34" charset="0"/>
              </a:rPr>
              <a:t>Objective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Analyse the SCMS Delivery History Dataset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Understand data quality.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Explore numerical and categorical variables.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Identify trends in deliveries.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Find insights about countries, vendors, and shipment values.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1072A06-1D85-D012-BF1C-F343F8ACD84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lgerian" panose="04020705040A02060702" pitchFamily="82" charset="0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75180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580E-4C61-A3AB-7935-EC5CFBD2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54" y="994450"/>
            <a:ext cx="8761413" cy="706964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lgerian" panose="04020705040A02060702" pitchFamily="82" charset="0"/>
              </a:rPr>
              <a:t>Libraries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4FA7C-0FF2-DE31-8F46-7AFBBD315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556164"/>
            <a:ext cx="8825659" cy="3463636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3200" dirty="0">
                <a:latin typeface="+mj-lt"/>
              </a:rPr>
              <a:t>Pandas : Data manipulation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>
                <a:latin typeface="+mj-lt"/>
              </a:rPr>
              <a:t>NumPy : Numerical operations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>
                <a:latin typeface="+mj-lt"/>
              </a:rPr>
              <a:t>Matplotlib : Visualization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>
                <a:latin typeface="+mj-lt"/>
              </a:rPr>
              <a:t>Seaborn : Statistical visualization</a:t>
            </a:r>
          </a:p>
        </p:txBody>
      </p:sp>
    </p:spTree>
    <p:extLst>
      <p:ext uri="{BB962C8B-B14F-4D97-AF65-F5344CB8AC3E}">
        <p14:creationId xmlns:p14="http://schemas.microsoft.com/office/powerpoint/2010/main" val="94342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A7C6-39CC-51F6-EFFA-9FBFB66E0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219" y="796753"/>
            <a:ext cx="2793158" cy="92479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2800" dirty="0">
                <a:latin typeface="Algerian" panose="04020705040A02060702" pitchFamily="82" charset="0"/>
              </a:rPr>
              <a:t>Missing Value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184EB-1633-5E3B-8B29-574985AA1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964" y="716973"/>
            <a:ext cx="5912427" cy="495646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132091-40A1-6895-EC35-D543483E2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1609" y="2079799"/>
            <a:ext cx="3716481" cy="2895599"/>
          </a:xfrm>
        </p:spPr>
        <p:txBody>
          <a:bodyPr/>
          <a:lstStyle/>
          <a:p>
            <a:r>
              <a:rPr lang="en-IN" sz="3200" b="1" dirty="0"/>
              <a:t>Observation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Missing values exist mainly in date-related columns.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Most columns are complete.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76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09401A6-802E-E043-E17C-658EDB8BEB3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lgerian" panose="04020705040A02060702" pitchFamily="82" charset="0"/>
              </a:rPr>
              <a:t>Numerical Data Analysis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69DFF5FD-6BA4-12E5-8D90-1DB4D6F108D1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44" b="12344"/>
          <a:stretch>
            <a:fillRect/>
          </a:stretch>
        </p:blipFill>
        <p:spPr>
          <a:xfrm>
            <a:off x="1154954" y="2433709"/>
            <a:ext cx="2870182" cy="16973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085F4F9-A58C-B150-58EA-E85E739F1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54954" y="4491280"/>
            <a:ext cx="8290382" cy="57626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lgerian" panose="04020705040A02060702" pitchFamily="82" charset="0"/>
              </a:rPr>
              <a:t>Insights</a:t>
            </a:r>
            <a:endParaRPr lang="en-I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lgerian" panose="04020705040A02060702" pitchFamily="82" charset="0"/>
            </a:endParaRPr>
          </a:p>
        </p:txBody>
      </p:sp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004F7153-D9FD-1CD6-A0DA-9732B9310238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2" b="12422"/>
          <a:stretch>
            <a:fillRect/>
          </a:stretch>
        </p:blipFill>
        <p:spPr>
          <a:xfrm>
            <a:off x="4568865" y="2433708"/>
            <a:ext cx="2870182" cy="16973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2176AC9-6F6A-E851-FE7A-04433329EBFC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1154954" y="5268191"/>
            <a:ext cx="8581328" cy="1075117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latin typeface="+mj-lt"/>
              </a:rPr>
              <a:t>Shipment weight is right-skewed.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latin typeface="+mj-lt"/>
              </a:rPr>
              <a:t>Line Item Value has some large transactions.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latin typeface="+mj-lt"/>
              </a:rPr>
              <a:t>Freight Cost contains several high-value shipments</a:t>
            </a:r>
            <a:r>
              <a:rPr lang="en-IN" dirty="0"/>
              <a:t>.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207077B2-B020-8758-5193-7FF43845AB3D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5" b="12265"/>
          <a:stretch>
            <a:fillRect/>
          </a:stretch>
        </p:blipFill>
        <p:spPr>
          <a:xfrm>
            <a:off x="8010245" y="2433708"/>
            <a:ext cx="2870182" cy="16973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5980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75A4-EFE4-EA89-57F5-E6783392C6C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4000" dirty="0">
                <a:latin typeface="Algerian" panose="04020705040A02060702" pitchFamily="82" charset="0"/>
              </a:rPr>
              <a:t>Categorical Data Analysis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E1C959B1-316C-18CB-AD32-AEAEE6B96184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r="251"/>
          <a:stretch>
            <a:fillRect/>
          </a:stretch>
        </p:blipFill>
        <p:spPr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68D5CD-82C5-CECF-3137-3406FAF66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334553" y="4467835"/>
            <a:ext cx="7386373" cy="57626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lgerian" panose="04020705040A02060702" pitchFamily="82" charset="0"/>
              </a:rPr>
              <a:t>Insights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06CC2DEE-4220-E08D-9BED-19662A473442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" r="1427"/>
          <a:stretch>
            <a:fillRect/>
          </a:stretch>
        </p:blipFill>
        <p:spPr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D0FC29-020A-E1C9-BD3F-0199DB7D4CA8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1334552" y="5316923"/>
            <a:ext cx="7386373" cy="134365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Some countries dominate deliveries.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Few vendors account for most shipments.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A54CBCA2-54C1-F929-CE15-7E4636494B0D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" r="376"/>
          <a:stretch>
            <a:fillRect/>
          </a:stretch>
        </p:blipFill>
        <p:spPr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5228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DF78D1B-AFC4-8246-F5BE-1A3BA57CF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18309"/>
            <a:ext cx="2793158" cy="1018309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Bivariate Analysis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DE812784-9D20-3AC0-7468-BC8CF4E4B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1295400"/>
            <a:ext cx="5793798" cy="43572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52E94AF-3506-A6FD-5C5C-0A12DA6A0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0654" y="2369128"/>
            <a:ext cx="2793158" cy="3106882"/>
          </a:xfrm>
        </p:spPr>
        <p:txBody>
          <a:bodyPr>
            <a:normAutofit fontScale="92500"/>
          </a:bodyPr>
          <a:lstStyle/>
          <a:p>
            <a:r>
              <a:rPr lang="en-IN" sz="2800" b="1" dirty="0">
                <a:latin typeface="+mj-lt"/>
              </a:rPr>
              <a:t>Observation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Positive relationship between shipment weight and item value.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 Some outliers indicate expensive lightweight products.</a:t>
            </a:r>
          </a:p>
        </p:txBody>
      </p:sp>
    </p:spTree>
    <p:extLst>
      <p:ext uri="{BB962C8B-B14F-4D97-AF65-F5344CB8AC3E}">
        <p14:creationId xmlns:p14="http://schemas.microsoft.com/office/powerpoint/2010/main" val="1638192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2677-7872-49C5-1465-AE2E6847C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873" y="909205"/>
            <a:ext cx="2793158" cy="107719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2800" dirty="0">
                <a:latin typeface="Algerian" panose="04020705040A02060702" pitchFamily="82" charset="0"/>
              </a:rPr>
              <a:t>Top 10 Countries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702D42-2F65-A2FB-44A4-F0EA8C6DD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1927841"/>
            <a:ext cx="5189538" cy="36119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8A471-17AB-BA33-A052-F3E5BF3F4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9873" y="2327565"/>
            <a:ext cx="2793158" cy="3822006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latin typeface="+mj-lt"/>
              </a:rPr>
              <a:t>Insights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Highest shipment volume comes from the top 10 countries.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Indicates major operational regions.</a:t>
            </a:r>
          </a:p>
        </p:txBody>
      </p:sp>
    </p:spTree>
    <p:extLst>
      <p:ext uri="{BB962C8B-B14F-4D97-AF65-F5344CB8AC3E}">
        <p14:creationId xmlns:p14="http://schemas.microsoft.com/office/powerpoint/2010/main" val="298989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B1C4-07EE-8C85-71CA-B9B8C43A6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82" y="833121"/>
            <a:ext cx="2793158" cy="1170709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Top 10 Vendors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13EC62-4205-5AC4-3C34-912176B19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1929197"/>
            <a:ext cx="5189538" cy="360920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DAD03-EE7E-9BA0-3B16-6E2BA3869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9482" y="2369128"/>
            <a:ext cx="2938630" cy="3655752"/>
          </a:xfrm>
        </p:spPr>
        <p:txBody>
          <a:bodyPr>
            <a:normAutofit lnSpcReduction="10000"/>
          </a:bodyPr>
          <a:lstStyle/>
          <a:p>
            <a:r>
              <a:rPr lang="en-IN" sz="3200" b="1" dirty="0"/>
              <a:t>Insights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Few vendors contribute the majority of deliveries.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+mj-lt"/>
              </a:rPr>
              <a:t>Useful for supplier performance analysis.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492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61C0C0E-A7AF-2EBD-1D43-7374A295110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Future Improvements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5FB3C1-7036-63FA-278B-F18E3594024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+mj-lt"/>
              </a:rPr>
              <a:t>Predict Delivery Delays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+mj-lt"/>
              </a:rPr>
              <a:t>Develop an Interactive Dashboard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+mj-lt"/>
              </a:rPr>
              <a:t>Analyse Delivery Performance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+mj-lt"/>
              </a:rPr>
              <a:t>Optimize Vendor Performance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+mj-lt"/>
              </a:rPr>
              <a:t>Forecast Shipment Demand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+mj-lt"/>
              </a:rPr>
              <a:t>Perform Geographic Analysis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103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92E8-BEFF-AA98-E6D4-D6F66FDCF79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4000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6BEA7-A994-E3A1-B833-85DD292F7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429000"/>
            <a:ext cx="8825659" cy="25908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2800" dirty="0">
                <a:latin typeface="+mj-lt"/>
              </a:rPr>
              <a:t>The exploratory data analysis provided valuable insights into shipment patterns, vendor distribution, delivery timelines, and transaction values. The dataset is suitable for further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114610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C94A8B-DCA5-6B13-C0E6-3698227023D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44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57149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osted Glass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220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Arial</vt:lpstr>
      <vt:lpstr>Arial Black</vt:lpstr>
      <vt:lpstr>Century Gothic</vt:lpstr>
      <vt:lpstr>Wingdings</vt:lpstr>
      <vt:lpstr>Wingdings 3</vt:lpstr>
      <vt:lpstr>Ion Boardroom</vt:lpstr>
      <vt:lpstr>Project Overview</vt:lpstr>
      <vt:lpstr>Libraries Used</vt:lpstr>
      <vt:lpstr>Missing Value Analysis</vt:lpstr>
      <vt:lpstr>Numerical Data Analysis</vt:lpstr>
      <vt:lpstr>Categorical Data Analysis</vt:lpstr>
      <vt:lpstr>Bivariate Analysis</vt:lpstr>
      <vt:lpstr>Top 10 Countries</vt:lpstr>
      <vt:lpstr>Top 10 Vendors</vt:lpstr>
      <vt:lpstr>Future Improvements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Bhargabi Manna</dc:creator>
  <cp:lastModifiedBy>Bhargabi Manna</cp:lastModifiedBy>
  <cp:revision>1</cp:revision>
  <dcterms:created xsi:type="dcterms:W3CDTF">2026-07-03T14:51:06Z</dcterms:created>
  <dcterms:modified xsi:type="dcterms:W3CDTF">2026-07-03T16:10:45Z</dcterms:modified>
</cp:coreProperties>
</file>